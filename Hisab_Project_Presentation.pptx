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3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97280" y="914400"/>
            <a:ext cx="9997135" cy="5029200"/>
          </a:xfrm>
          <a:prstGeom prst="roundRect">
            <a:avLst/>
          </a:prstGeom>
          <a:solidFill>
            <a:srgbClr val="14322D"/>
          </a:solidFill>
          <a:ln w="25400">
            <a:solidFill>
              <a:srgbClr val="1F6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45920" y="1463040"/>
            <a:ext cx="889985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HISAB (हिसाब)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2743200"/>
            <a:ext cx="88998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>
                <a:solidFill>
                  <a:srgbClr val="A7D3C6"/>
                </a:solidFill>
              </a:defRPr>
            </a:pPr>
            <a:r>
              <a:t>Cloud-Synchronized Personal Finance &amp; Ledger Management System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0" y="3840480"/>
            <a:ext cx="3962095" cy="36576"/>
          </a:xfrm>
          <a:prstGeom prst="rect">
            <a:avLst/>
          </a:prstGeom>
          <a:solidFill>
            <a:srgbClr val="1F6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4114800"/>
            <a:ext cx="88998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Developer: Sanjana Dadaso Sapkal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4754880"/>
            <a:ext cx="88998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B4C8C3"/>
                </a:solidFill>
              </a:defRPr>
            </a:pPr>
            <a:r>
              <a:t>Tech Stack: Android (Kotlin) | Node.js (Express) | MongoDB Atlas | Render Cloud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83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20040"/>
            <a:ext cx="777240" cy="594360"/>
          </a:xfrm>
          <a:prstGeom prst="roundRect">
            <a:avLst/>
          </a:prstGeom>
          <a:solidFill>
            <a:srgbClr val="1F6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91640" y="182880"/>
            <a:ext cx="9601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Problem Statement &amp; Motivation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91640" y="685800"/>
            <a:ext cx="9601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A7D3C6"/>
                </a:solidFill>
              </a:defRPr>
            </a:pPr>
            <a:r>
              <a:t>The limitations of traditional khata &amp; informal lending tracking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00200"/>
            <a:ext cx="5120640" cy="2240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E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783080"/>
            <a:ext cx="73152" cy="1874519"/>
          </a:xfrm>
          <a:prstGeom prst="rect">
            <a:avLst/>
          </a:prstGeom>
          <a:solidFill>
            <a:srgbClr val="1F6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737360"/>
            <a:ext cx="475488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183B35"/>
                </a:solidFill>
              </a:defRPr>
            </a:pPr>
            <a:r>
              <a:t>Fragile Traditional Bookkeeping</a:t>
            </a:r>
          </a:p>
          <a:p>
            <a:pPr>
              <a:lnSpc>
                <a:spcPct val="125000"/>
              </a:lnSpc>
              <a:defRPr sz="1250">
                <a:solidFill>
                  <a:srgbClr val="1C2321"/>
                </a:solidFill>
              </a:defRPr>
            </a:pPr>
            <a:r>
              <a:t>Traditional paper-based ledger notebooks ('Bahi Khata') are vulnerable to physical damage, loss, ink fading, and human math calculation mistakes.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600200"/>
            <a:ext cx="5120640" cy="2240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E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63640" y="1783080"/>
            <a:ext cx="73152" cy="1874519"/>
          </a:xfrm>
          <a:prstGeom prst="rect">
            <a:avLst/>
          </a:prstGeom>
          <a:solidFill>
            <a:srgbClr val="1F6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737360"/>
            <a:ext cx="475488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183B35"/>
                </a:solidFill>
              </a:defRPr>
            </a:pPr>
            <a:r>
              <a:t>Disorganized Digital Alternatives</a:t>
            </a:r>
          </a:p>
          <a:p>
            <a:pPr>
              <a:lnSpc>
                <a:spcPct val="125000"/>
              </a:lnSpc>
              <a:defRPr sz="1250">
                <a:solidFill>
                  <a:srgbClr val="1C2321"/>
                </a:solidFill>
              </a:defRPr>
            </a:pPr>
            <a:r>
              <a:t>Chat apps (WhatsApp/SMS) and note apps lack debit/credit logic, balance reconciliation, settlement audit trails, or multi-person balance summaries.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160520"/>
            <a:ext cx="5120640" cy="2240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E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4343400"/>
            <a:ext cx="73152" cy="1874519"/>
          </a:xfrm>
          <a:prstGeom prst="rect">
            <a:avLst/>
          </a:prstGeom>
          <a:solidFill>
            <a:srgbClr val="1F6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4297680"/>
            <a:ext cx="475488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183B35"/>
                </a:solidFill>
              </a:defRPr>
            </a:pPr>
            <a:r>
              <a:t>Overcomplicated Enterprise Tools</a:t>
            </a:r>
          </a:p>
          <a:p>
            <a:pPr>
              <a:lnSpc>
                <a:spcPct val="125000"/>
              </a:lnSpc>
              <a:defRPr sz="1250">
                <a:solidFill>
                  <a:srgbClr val="1C2321"/>
                </a:solidFill>
              </a:defRPr>
            </a:pPr>
            <a:r>
              <a:t>Existing accounting tools (Tally, QuickBooks) are designed for complex business tax filings and are overly bulky for personal peer-to-peer lending.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4160520"/>
            <a:ext cx="5120640" cy="2240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E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63640" y="4343400"/>
            <a:ext cx="73152" cy="1874519"/>
          </a:xfrm>
          <a:prstGeom prst="rect">
            <a:avLst/>
          </a:prstGeom>
          <a:solidFill>
            <a:srgbClr val="1F6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4297680"/>
            <a:ext cx="475488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183B35"/>
                </a:solidFill>
              </a:defRPr>
            </a:pPr>
            <a:r>
              <a:t>The Hisab Vision</a:t>
            </a:r>
          </a:p>
          <a:p>
            <a:pPr>
              <a:lnSpc>
                <a:spcPct val="125000"/>
              </a:lnSpc>
              <a:defRPr sz="1250">
                <a:solidFill>
                  <a:srgbClr val="1C2321"/>
                </a:solidFill>
              </a:defRPr>
            </a:pPr>
            <a:r>
              <a:t>A lightweight, secure, cloud-synced digital notebook specifically crafted for tracking loans, borrowed money, shared bills, and settlements effortlessly.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6446520"/>
            <a:ext cx="10652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A6964"/>
                </a:solidFill>
              </a:defRPr>
            </a:pPr>
            <a:r>
              <a:t>Hisab Project Presentation • Sanjana Dadaso Sapkal • Deployed on Render &amp; MongoDB Atlas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83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20040"/>
            <a:ext cx="777240" cy="594360"/>
          </a:xfrm>
          <a:prstGeom prst="roundRect">
            <a:avLst/>
          </a:prstGeom>
          <a:solidFill>
            <a:srgbClr val="1F6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91640" y="182880"/>
            <a:ext cx="9601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Project Objectives &amp; Core Capabilities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91640" y="685800"/>
            <a:ext cx="9601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A7D3C6"/>
                </a:solidFill>
              </a:defRPr>
            </a:pPr>
            <a:r>
              <a:t>Everything required for effortless peer debt management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00200"/>
            <a:ext cx="5120640" cy="2240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E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783080"/>
            <a:ext cx="73152" cy="1874519"/>
          </a:xfrm>
          <a:prstGeom prst="rect">
            <a:avLst/>
          </a:prstGeom>
          <a:solidFill>
            <a:srgbClr val="1F6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737360"/>
            <a:ext cx="475488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183B35"/>
                </a:solidFill>
              </a:defRPr>
            </a:pPr>
            <a:r>
              <a:t>Dual-Party Financial Ledger</a:t>
            </a:r>
          </a:p>
          <a:p>
            <a:pPr>
              <a:lnSpc>
                <a:spcPct val="125000"/>
              </a:lnSpc>
              <a:defRPr sz="1250">
                <a:solidFill>
                  <a:srgbClr val="1C2321"/>
                </a:solidFill>
              </a:defRPr>
            </a:pPr>
            <a:r>
              <a:t>Tracks both 'You will get' (+ Receivables) and 'You will give' (- Payables), calculating signed real-time net balances automatically.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600200"/>
            <a:ext cx="5120640" cy="2240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E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63640" y="1783080"/>
            <a:ext cx="73152" cy="1874519"/>
          </a:xfrm>
          <a:prstGeom prst="rect">
            <a:avLst/>
          </a:prstGeom>
          <a:solidFill>
            <a:srgbClr val="1F6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737360"/>
            <a:ext cx="475488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183B35"/>
                </a:solidFill>
              </a:defRPr>
            </a:pPr>
            <a:r>
              <a:t>Audit-Preserved Account Settlement</a:t>
            </a:r>
          </a:p>
          <a:p>
            <a:pPr>
              <a:lnSpc>
                <a:spcPct val="125000"/>
              </a:lnSpc>
              <a:defRPr sz="1250">
                <a:solidFill>
                  <a:srgbClr val="1C2321"/>
                </a:solidFill>
              </a:defRPr>
            </a:pPr>
            <a:r>
              <a:t>'Settle Hisab' closes active debt cycles to ₹0 while preserving 100% of historical transactions for transparency and dispute prevention.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160520"/>
            <a:ext cx="5120640" cy="2240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E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4343400"/>
            <a:ext cx="73152" cy="1874519"/>
          </a:xfrm>
          <a:prstGeom prst="rect">
            <a:avLst/>
          </a:prstGeom>
          <a:solidFill>
            <a:srgbClr val="1F6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4297680"/>
            <a:ext cx="475488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183B35"/>
                </a:solidFill>
              </a:defRPr>
            </a:pPr>
            <a:r>
              <a:t>Enterprise Cloud Synchronization</a:t>
            </a:r>
          </a:p>
          <a:p>
            <a:pPr>
              <a:lnSpc>
                <a:spcPct val="125000"/>
              </a:lnSpc>
              <a:defRPr sz="1250">
                <a:solidFill>
                  <a:srgbClr val="1C2321"/>
                </a:solidFill>
              </a:defRPr>
            </a:pPr>
            <a:r>
              <a:t>Continuous live sync between mobile devices and MongoDB Atlas cloud without manual exports or file backups.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4160520"/>
            <a:ext cx="5120640" cy="2240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E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63640" y="4343400"/>
            <a:ext cx="73152" cy="1874519"/>
          </a:xfrm>
          <a:prstGeom prst="rect">
            <a:avLst/>
          </a:prstGeom>
          <a:solidFill>
            <a:srgbClr val="1F6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4297680"/>
            <a:ext cx="475488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183B35"/>
                </a:solidFill>
              </a:defRPr>
            </a:pPr>
            <a:r>
              <a:t>In-App Security &amp; Recovery</a:t>
            </a:r>
          </a:p>
          <a:p>
            <a:pPr>
              <a:lnSpc>
                <a:spcPct val="125000"/>
              </a:lnSpc>
              <a:defRPr sz="1250">
                <a:solidFill>
                  <a:srgbClr val="1C2321"/>
                </a:solidFill>
              </a:defRPr>
            </a:pPr>
            <a:r>
              <a:t>Strict user data isolation, encrypted JWT sessions, and 6-digit email OTPs delivered for authentication and in-app password reset.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6446520"/>
            <a:ext cx="10652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A6964"/>
                </a:solidFill>
              </a:defRPr>
            </a:pPr>
            <a:r>
              <a:t>Hisab Project Presentation • Sanjana Dadaso Sapkal • Deployed on Render &amp; MongoDB Atlas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83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20040"/>
            <a:ext cx="777240" cy="594360"/>
          </a:xfrm>
          <a:prstGeom prst="roundRect">
            <a:avLst/>
          </a:prstGeom>
          <a:solidFill>
            <a:srgbClr val="1F6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91640" y="182880"/>
            <a:ext cx="9601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System Architecture &amp; Data 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91640" y="685800"/>
            <a:ext cx="9601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A7D3C6"/>
                </a:solidFill>
              </a:defRPr>
            </a:pPr>
            <a:r>
              <a:t>3-Tier cloud-connected enterprise mobile architecture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00200"/>
            <a:ext cx="5120640" cy="2240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E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783080"/>
            <a:ext cx="73152" cy="1874519"/>
          </a:xfrm>
          <a:prstGeom prst="rect">
            <a:avLst/>
          </a:prstGeom>
          <a:solidFill>
            <a:srgbClr val="1F6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737360"/>
            <a:ext cx="475488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183B35"/>
                </a:solidFill>
              </a:defRPr>
            </a:pPr>
            <a:r>
              <a:t>Tier 1: Android Client (Kotlin)</a:t>
            </a:r>
          </a:p>
          <a:p>
            <a:pPr>
              <a:lnSpc>
                <a:spcPct val="125000"/>
              </a:lnSpc>
              <a:defRPr sz="1250">
                <a:solidFill>
                  <a:srgbClr val="1C2321"/>
                </a:solidFill>
              </a:defRPr>
            </a:pPr>
            <a:r>
              <a:t>Built with Material Design 3, ViewBinding, Retrofit2, and Coroutines. Manages UI rendering, offline-ready session caching, and secure token headers.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600200"/>
            <a:ext cx="5120640" cy="2240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E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63640" y="1783080"/>
            <a:ext cx="73152" cy="1874519"/>
          </a:xfrm>
          <a:prstGeom prst="rect">
            <a:avLst/>
          </a:prstGeom>
          <a:solidFill>
            <a:srgbClr val="1F6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737360"/>
            <a:ext cx="475488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183B35"/>
                </a:solidFill>
              </a:defRPr>
            </a:pPr>
            <a:r>
              <a:t>Tier 2: Cloud Backend (Node.js/Express)</a:t>
            </a:r>
          </a:p>
          <a:p>
            <a:pPr>
              <a:lnSpc>
                <a:spcPct val="125000"/>
              </a:lnSpc>
              <a:defRPr sz="1250">
                <a:solidFill>
                  <a:srgbClr val="1C2321"/>
                </a:solidFill>
              </a:defRPr>
            </a:pPr>
            <a:r>
              <a:t>Hosted 24/7 on Render cloud. Enforces RESTful standards, route rate limiting, input sanitization, and JWT authentication middleware.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160520"/>
            <a:ext cx="5120640" cy="2240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E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4343400"/>
            <a:ext cx="73152" cy="1874519"/>
          </a:xfrm>
          <a:prstGeom prst="rect">
            <a:avLst/>
          </a:prstGeom>
          <a:solidFill>
            <a:srgbClr val="1F6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4297680"/>
            <a:ext cx="475488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183B35"/>
                </a:solidFill>
              </a:defRPr>
            </a:pPr>
            <a:r>
              <a:t>Tier 3: Database (MongoDB Atlas)</a:t>
            </a:r>
          </a:p>
          <a:p>
            <a:pPr>
              <a:lnSpc>
                <a:spcPct val="125000"/>
              </a:lnSpc>
              <a:defRPr sz="1250">
                <a:solidFill>
                  <a:srgbClr val="1C2321"/>
                </a:solidFill>
              </a:defRPr>
            </a:pPr>
            <a:r>
              <a:t>Cloud-hosted NoSQL cluster with Mongoose ORM. Enforces relational schema validation, index optimization, and strict multi-tenant user scoping.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4160520"/>
            <a:ext cx="5120640" cy="2240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E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63640" y="4343400"/>
            <a:ext cx="73152" cy="1874519"/>
          </a:xfrm>
          <a:prstGeom prst="rect">
            <a:avLst/>
          </a:prstGeom>
          <a:solidFill>
            <a:srgbClr val="1F6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4297680"/>
            <a:ext cx="475488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183B35"/>
                </a:solidFill>
              </a:defRPr>
            </a:pPr>
            <a:r>
              <a:t>Communication &amp; Notifications</a:t>
            </a:r>
          </a:p>
          <a:p>
            <a:pPr>
              <a:lnSpc>
                <a:spcPct val="125000"/>
              </a:lnSpc>
              <a:defRPr sz="1250">
                <a:solidFill>
                  <a:srgbClr val="1C2321"/>
                </a:solidFill>
              </a:defRPr>
            </a:pPr>
            <a:r>
              <a:t>TLS-encrypted HTTPS over public internet. Brevo SMTP Relay via cloud-safe port 2525 for instantaneous 6-digit email OTP delivery.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6446520"/>
            <a:ext cx="10652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A6964"/>
                </a:solidFill>
              </a:defRPr>
            </a:pPr>
            <a:r>
              <a:t>Hisab Project Presentation • Sanjana Dadaso Sapkal • Deployed on Render &amp; MongoDB Atlas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83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20040"/>
            <a:ext cx="777240" cy="594360"/>
          </a:xfrm>
          <a:prstGeom prst="roundRect">
            <a:avLst/>
          </a:prstGeom>
          <a:solidFill>
            <a:srgbClr val="1F6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91640" y="182880"/>
            <a:ext cx="9601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Android Application Architecture &amp; UI/UX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91640" y="685800"/>
            <a:ext cx="9601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A7D3C6"/>
                </a:solidFill>
              </a:defRPr>
            </a:pPr>
            <a:r>
              <a:t>Modern, intuitive mobile interface designed for daily usability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00200"/>
            <a:ext cx="5120640" cy="2240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E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783080"/>
            <a:ext cx="73152" cy="1874519"/>
          </a:xfrm>
          <a:prstGeom prst="rect">
            <a:avLst/>
          </a:prstGeom>
          <a:solidFill>
            <a:srgbClr val="1F6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737360"/>
            <a:ext cx="475488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183B35"/>
                </a:solidFill>
              </a:defRPr>
            </a:pPr>
            <a:r>
              <a:t>Visual Design &amp; Branding</a:t>
            </a:r>
          </a:p>
          <a:p>
            <a:pPr>
              <a:lnSpc>
                <a:spcPct val="125000"/>
              </a:lnSpc>
              <a:defRPr sz="1250">
                <a:solidFill>
                  <a:srgbClr val="1C2321"/>
                </a:solidFill>
              </a:defRPr>
            </a:pPr>
            <a:r>
              <a:t>Custom deep-green color scheme (#183B35), card elevations, vector iconography, dedicated splash screen, and dynamic rupee formatting (₹).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600200"/>
            <a:ext cx="5120640" cy="2240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E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63640" y="1783080"/>
            <a:ext cx="73152" cy="1874519"/>
          </a:xfrm>
          <a:prstGeom prst="rect">
            <a:avLst/>
          </a:prstGeom>
          <a:solidFill>
            <a:srgbClr val="1F6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737360"/>
            <a:ext cx="475488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183B35"/>
                </a:solidFill>
              </a:defRPr>
            </a:pPr>
            <a:r>
              <a:t>Smart Dashboard (MainActivity)</a:t>
            </a:r>
          </a:p>
          <a:p>
            <a:pPr>
              <a:lnSpc>
                <a:spcPct val="125000"/>
              </a:lnSpc>
              <a:defRPr sz="1250">
                <a:solidFill>
                  <a:srgbClr val="1C2321"/>
                </a:solidFill>
              </a:defRPr>
            </a:pPr>
            <a:r>
              <a:t>Interactive 3-part financial summary card (Receivables, Payables, Net Balance) with real-time person search and instant add modal.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160520"/>
            <a:ext cx="5120640" cy="2240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E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4343400"/>
            <a:ext cx="73152" cy="1874519"/>
          </a:xfrm>
          <a:prstGeom prst="rect">
            <a:avLst/>
          </a:prstGeom>
          <a:solidFill>
            <a:srgbClr val="1F6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4297680"/>
            <a:ext cx="475488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183B35"/>
                </a:solidFill>
              </a:defRPr>
            </a:pPr>
            <a:r>
              <a:t>Account Ledger (AccountDetailActivity)</a:t>
            </a:r>
          </a:p>
          <a:p>
            <a:pPr>
              <a:lnSpc>
                <a:spcPct val="125000"/>
              </a:lnSpc>
              <a:defRPr sz="1250">
                <a:solidFill>
                  <a:srgbClr val="1C2321"/>
                </a:solidFill>
              </a:defRPr>
            </a:pPr>
            <a:r>
              <a:t>Live signed status badges (Owes You / You Owe / Settled), reverse-chronological transaction stream, and one-tap 'Settle Hisab' dialog.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4160520"/>
            <a:ext cx="5120640" cy="2240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E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63640" y="4343400"/>
            <a:ext cx="73152" cy="1874519"/>
          </a:xfrm>
          <a:prstGeom prst="rect">
            <a:avLst/>
          </a:prstGeom>
          <a:solidFill>
            <a:srgbClr val="1F6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4297680"/>
            <a:ext cx="475488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183B35"/>
                </a:solidFill>
              </a:defRPr>
            </a:pPr>
            <a:r>
              <a:t>Audit Trail (TransactionHistoryActivity)</a:t>
            </a:r>
          </a:p>
          <a:p>
            <a:pPr>
              <a:lnSpc>
                <a:spcPct val="125000"/>
              </a:lnSpc>
              <a:defRPr sz="1250">
                <a:solidFill>
                  <a:srgbClr val="1C2321"/>
                </a:solidFill>
              </a:defRPr>
            </a:pPr>
            <a:r>
              <a:t>Historical audit screen displaying past settlement cycles with payment modes (UPI/Cash), settlement notes, and timestamps.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6446520"/>
            <a:ext cx="10652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A6964"/>
                </a:solidFill>
              </a:defRPr>
            </a:pPr>
            <a:r>
              <a:t>Hisab Project Presentation • Sanjana Dadaso Sapkal • Deployed on Render &amp; MongoDB Atlas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83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20040"/>
            <a:ext cx="777240" cy="594360"/>
          </a:xfrm>
          <a:prstGeom prst="roundRect">
            <a:avLst/>
          </a:prstGeom>
          <a:solidFill>
            <a:srgbClr val="1F6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91640" y="182880"/>
            <a:ext cx="9601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Cloud Backend &amp; API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91640" y="685800"/>
            <a:ext cx="9601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A7D3C6"/>
                </a:solidFill>
              </a:defRPr>
            </a:pPr>
            <a:r>
              <a:t>Scalable REST API endpoints engineered for security and reliability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00200"/>
            <a:ext cx="5120640" cy="2240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E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783080"/>
            <a:ext cx="73152" cy="1874519"/>
          </a:xfrm>
          <a:prstGeom prst="rect">
            <a:avLst/>
          </a:prstGeom>
          <a:solidFill>
            <a:srgbClr val="1F6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737360"/>
            <a:ext cx="475488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183B35"/>
                </a:solidFill>
              </a:defRPr>
            </a:pPr>
            <a:r>
              <a:t>Auth &amp; In-App Recovery APIs</a:t>
            </a:r>
          </a:p>
          <a:p>
            <a:pPr>
              <a:lnSpc>
                <a:spcPct val="125000"/>
              </a:lnSpc>
              <a:defRPr sz="1250">
                <a:solidFill>
                  <a:srgbClr val="1C2321"/>
                </a:solidFill>
              </a:defRPr>
            </a:pPr>
            <a:r>
              <a:t>POST /api/auth/register, verify-email-otp, login with JWT, and in-app forgot/reset-password with 6-digit codes and zero web URLs.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600200"/>
            <a:ext cx="5120640" cy="2240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E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63640" y="1783080"/>
            <a:ext cx="73152" cy="1874519"/>
          </a:xfrm>
          <a:prstGeom prst="rect">
            <a:avLst/>
          </a:prstGeom>
          <a:solidFill>
            <a:srgbClr val="1F6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737360"/>
            <a:ext cx="475488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183B35"/>
                </a:solidFill>
              </a:defRPr>
            </a:pPr>
            <a:r>
              <a:t>People &amp; Contact Management</a:t>
            </a:r>
          </a:p>
          <a:p>
            <a:pPr>
              <a:lnSpc>
                <a:spcPct val="125000"/>
              </a:lnSpc>
              <a:defRPr sz="1250">
                <a:solidFill>
                  <a:srgbClr val="1C2321"/>
                </a:solidFill>
              </a:defRPr>
            </a:pPr>
            <a:r>
              <a:t>Full CRUD operations on /api/people with automatic balance computation, duplicate detection, and cascade deletion guards.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160520"/>
            <a:ext cx="5120640" cy="2240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E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4343400"/>
            <a:ext cx="73152" cy="1874519"/>
          </a:xfrm>
          <a:prstGeom prst="rect">
            <a:avLst/>
          </a:prstGeom>
          <a:solidFill>
            <a:srgbClr val="1F6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4297680"/>
            <a:ext cx="475488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183B35"/>
                </a:solidFill>
              </a:defRPr>
            </a:pPr>
            <a:r>
              <a:t>Transactions &amp; Settlement Engine</a:t>
            </a:r>
          </a:p>
          <a:p>
            <a:pPr>
              <a:lnSpc>
                <a:spcPct val="125000"/>
              </a:lnSpc>
              <a:defRPr sz="1250">
                <a:solidFill>
                  <a:srgbClr val="1C2321"/>
                </a:solidFill>
              </a:defRPr>
            </a:pPr>
            <a:r>
              <a:t>POST /api/transactions to record debts or credits. POST /api/transactions/settle to archive cycles into AccountPeriods atomically.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4160520"/>
            <a:ext cx="5120640" cy="2240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E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63640" y="4343400"/>
            <a:ext cx="73152" cy="1874519"/>
          </a:xfrm>
          <a:prstGeom prst="rect">
            <a:avLst/>
          </a:prstGeom>
          <a:solidFill>
            <a:srgbClr val="1F6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4297680"/>
            <a:ext cx="475488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183B35"/>
                </a:solidFill>
              </a:defRPr>
            </a:pPr>
            <a:r>
              <a:t>OTA Version Updates &amp; Release News</a:t>
            </a:r>
          </a:p>
          <a:p>
            <a:pPr>
              <a:lnSpc>
                <a:spcPct val="125000"/>
              </a:lnSpc>
              <a:defRPr sz="1250">
                <a:solidFill>
                  <a:srgbClr val="1C2321"/>
                </a:solidFill>
              </a:defRPr>
            </a:pPr>
            <a:r>
              <a:t>GET /api/app/version delivers live version checks, 'What's New' highlights, and one-tap APK updates straight from MongoDB.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6446520"/>
            <a:ext cx="10652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A6964"/>
                </a:solidFill>
              </a:defRPr>
            </a:pPr>
            <a:r>
              <a:t>Hisab Project Presentation • Sanjana Dadaso Sapkal • Deployed on Render &amp; MongoDB Atlas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83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20040"/>
            <a:ext cx="777240" cy="594360"/>
          </a:xfrm>
          <a:prstGeom prst="roundRect">
            <a:avLst/>
          </a:prstGeom>
          <a:solidFill>
            <a:srgbClr val="1F6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91640" y="182880"/>
            <a:ext cx="9601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Security &amp; Data Privacy Implementation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91640" y="685800"/>
            <a:ext cx="9601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A7D3C6"/>
                </a:solidFill>
              </a:defRPr>
            </a:pPr>
            <a:r>
              <a:t>Defensive security safeguards protecting sensitive financial records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00200"/>
            <a:ext cx="5120640" cy="2240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E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783080"/>
            <a:ext cx="73152" cy="1874519"/>
          </a:xfrm>
          <a:prstGeom prst="rect">
            <a:avLst/>
          </a:prstGeom>
          <a:solidFill>
            <a:srgbClr val="1F6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737360"/>
            <a:ext cx="475488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183B35"/>
                </a:solidFill>
              </a:defRPr>
            </a:pPr>
            <a:r>
              <a:t>Multi-Tenant Data Isolation</a:t>
            </a:r>
          </a:p>
          <a:p>
            <a:pPr>
              <a:lnSpc>
                <a:spcPct val="125000"/>
              </a:lnSpc>
              <a:defRPr sz="1250">
                <a:solidFill>
                  <a:srgbClr val="1C2321"/>
                </a:solidFill>
              </a:defRPr>
            </a:pPr>
            <a:r>
              <a:t>Every database query enforces { userId: req.user._id }. User A can never inspect, alter, or delete User B's financial records.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600200"/>
            <a:ext cx="5120640" cy="2240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E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63640" y="1783080"/>
            <a:ext cx="73152" cy="1874519"/>
          </a:xfrm>
          <a:prstGeom prst="rect">
            <a:avLst/>
          </a:prstGeom>
          <a:solidFill>
            <a:srgbClr val="1F6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737360"/>
            <a:ext cx="475488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183B35"/>
                </a:solidFill>
              </a:defRPr>
            </a:pPr>
            <a:r>
              <a:t>Cryptographic Protection</a:t>
            </a:r>
          </a:p>
          <a:p>
            <a:pPr>
              <a:lnSpc>
                <a:spcPct val="125000"/>
              </a:lnSpc>
              <a:defRPr sz="1250">
                <a:solidFill>
                  <a:srgbClr val="1C2321"/>
                </a:solidFill>
              </a:defRPr>
            </a:pPr>
            <a:r>
              <a:t>Bcrypt password hashing (salt rounds: 10), SHA-256 OTP hashing in database, and cryptographic random token generation.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160520"/>
            <a:ext cx="5120640" cy="2240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E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4343400"/>
            <a:ext cx="73152" cy="1874519"/>
          </a:xfrm>
          <a:prstGeom prst="rect">
            <a:avLst/>
          </a:prstGeom>
          <a:solidFill>
            <a:srgbClr val="1F6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4297680"/>
            <a:ext cx="475488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183B35"/>
                </a:solidFill>
              </a:defRPr>
            </a:pPr>
            <a:r>
              <a:t>Anti-Enumeration &amp; Rate Limiting</a:t>
            </a:r>
          </a:p>
          <a:p>
            <a:pPr>
              <a:lnSpc>
                <a:spcPct val="125000"/>
              </a:lnSpc>
              <a:defRPr sz="1250">
                <a:solidFill>
                  <a:srgbClr val="1C2321"/>
                </a:solidFill>
              </a:defRPr>
            </a:pPr>
            <a:r>
              <a:t>Authentication endpoints return generic success responses to prevent username/email harvesting; IP rate-limiters prevent brute force.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4160520"/>
            <a:ext cx="5120640" cy="2240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E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63640" y="4343400"/>
            <a:ext cx="73152" cy="1874519"/>
          </a:xfrm>
          <a:prstGeom prst="rect">
            <a:avLst/>
          </a:prstGeom>
          <a:solidFill>
            <a:srgbClr val="1F6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4297680"/>
            <a:ext cx="475488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183B35"/>
                </a:solidFill>
              </a:defRPr>
            </a:pPr>
            <a:r>
              <a:t>Cloud Firewall Hardening</a:t>
            </a:r>
          </a:p>
          <a:p>
            <a:pPr>
              <a:lnSpc>
                <a:spcPct val="125000"/>
              </a:lnSpc>
              <a:defRPr sz="1250">
                <a:solidFill>
                  <a:srgbClr val="1C2321"/>
                </a:solidFill>
              </a:defRPr>
            </a:pPr>
            <a:r>
              <a:t>Custom port 2525 routing to bypass cloud host port 587 outbound firewall restrictions on Render's free tier.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6446520"/>
            <a:ext cx="10652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A6964"/>
                </a:solidFill>
              </a:defRPr>
            </a:pPr>
            <a:r>
              <a:t>Hisab Project Presentation • Sanjana Dadaso Sapkal • Deployed on Render &amp; MongoDB Atlas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83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20040"/>
            <a:ext cx="777240" cy="594360"/>
          </a:xfrm>
          <a:prstGeom prst="roundRect">
            <a:avLst/>
          </a:prstGeom>
          <a:solidFill>
            <a:srgbClr val="1F6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91640" y="182880"/>
            <a:ext cx="9601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Testing, Validation &amp; Quality Assurance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91640" y="685800"/>
            <a:ext cx="9601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A7D3C6"/>
                </a:solidFill>
              </a:defRPr>
            </a:pPr>
            <a:r>
              <a:t>Rigorous automated testing guaranteeing zero defects in production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00200"/>
            <a:ext cx="5120640" cy="2240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E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783080"/>
            <a:ext cx="73152" cy="1874519"/>
          </a:xfrm>
          <a:prstGeom prst="rect">
            <a:avLst/>
          </a:prstGeom>
          <a:solidFill>
            <a:srgbClr val="1F6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737360"/>
            <a:ext cx="475488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183B35"/>
                </a:solidFill>
              </a:defRPr>
            </a:pPr>
            <a:r>
              <a:t>100% Passing Automated Suite</a:t>
            </a:r>
          </a:p>
          <a:p>
            <a:pPr>
              <a:lnSpc>
                <a:spcPct val="125000"/>
              </a:lnSpc>
              <a:defRPr sz="1250">
                <a:solidFill>
                  <a:srgbClr val="1C2321"/>
                </a:solidFill>
              </a:defRPr>
            </a:pPr>
            <a:r>
              <a:t>73 out of 73 unit and integration tests passing with 0 failures using Node.js native test runner and Supertest.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600200"/>
            <a:ext cx="5120640" cy="2240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E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63640" y="1783080"/>
            <a:ext cx="73152" cy="1874519"/>
          </a:xfrm>
          <a:prstGeom prst="rect">
            <a:avLst/>
          </a:prstGeom>
          <a:solidFill>
            <a:srgbClr val="1F6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737360"/>
            <a:ext cx="475488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183B35"/>
                </a:solidFill>
              </a:defRPr>
            </a:pPr>
            <a:r>
              <a:t>Strict User Data Isolation Tests</a:t>
            </a:r>
          </a:p>
          <a:p>
            <a:pPr>
              <a:lnSpc>
                <a:spcPct val="125000"/>
              </a:lnSpc>
              <a:defRPr sz="1250">
                <a:solidFill>
                  <a:srgbClr val="1C2321"/>
                </a:solidFill>
              </a:defRPr>
            </a:pPr>
            <a:r>
              <a:t>Automated attack simulation tests verifying that unauthorized cross-user queries return 404 Not Found as expected.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160520"/>
            <a:ext cx="5120640" cy="2240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E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4343400"/>
            <a:ext cx="73152" cy="1874519"/>
          </a:xfrm>
          <a:prstGeom prst="rect">
            <a:avLst/>
          </a:prstGeom>
          <a:solidFill>
            <a:srgbClr val="1F6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4297680"/>
            <a:ext cx="475488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183B35"/>
                </a:solidFill>
              </a:defRPr>
            </a:pPr>
            <a:r>
              <a:t>Financial Logic Verification</a:t>
            </a:r>
          </a:p>
          <a:p>
            <a:pPr>
              <a:lnSpc>
                <a:spcPct val="125000"/>
              </a:lnSpc>
              <a:defRPr sz="1250">
                <a:solidFill>
                  <a:srgbClr val="1C2321"/>
                </a:solidFill>
              </a:defRPr>
            </a:pPr>
            <a:r>
              <a:t>Mathematical precision tests proving balance addition, negative subtraction, signed balances, and settlement zeroing.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4160520"/>
            <a:ext cx="5120640" cy="2240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E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63640" y="4343400"/>
            <a:ext cx="73152" cy="1874519"/>
          </a:xfrm>
          <a:prstGeom prst="rect">
            <a:avLst/>
          </a:prstGeom>
          <a:solidFill>
            <a:srgbClr val="1F6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4297680"/>
            <a:ext cx="475488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183B35"/>
                </a:solidFill>
              </a:defRPr>
            </a:pPr>
            <a:r>
              <a:t>Provider &amp; Resiliency Testing</a:t>
            </a:r>
          </a:p>
          <a:p>
            <a:pPr>
              <a:lnSpc>
                <a:spcPct val="125000"/>
              </a:lnSpc>
              <a:defRPr sz="1250">
                <a:solidFill>
                  <a:srgbClr val="1C2321"/>
                </a:solidFill>
              </a:defRPr>
            </a:pPr>
            <a:r>
              <a:t>Mock email fallback testing, SMTP error recovery, cloud database reconnection, and network retry validation.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6446520"/>
            <a:ext cx="10652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A6964"/>
                </a:solidFill>
              </a:defRPr>
            </a:pPr>
            <a:r>
              <a:t>Hisab Project Presentation • Sanjana Dadaso Sapkal • Deployed on Render &amp; MongoDB Atlas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83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20040"/>
            <a:ext cx="777240" cy="594360"/>
          </a:xfrm>
          <a:prstGeom prst="roundRect">
            <a:avLst/>
          </a:prstGeom>
          <a:solidFill>
            <a:srgbClr val="1F6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91640" y="182880"/>
            <a:ext cx="9601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Cloud Deployment &amp; DevOps 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91640" y="685800"/>
            <a:ext cx="9601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A7D3C6"/>
                </a:solidFill>
              </a:defRPr>
            </a:pPr>
            <a:r>
              <a:t>Zero local dependency — accessible anywhere, anytime, globally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00200"/>
            <a:ext cx="5120640" cy="2240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E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783080"/>
            <a:ext cx="73152" cy="1874519"/>
          </a:xfrm>
          <a:prstGeom prst="rect">
            <a:avLst/>
          </a:prstGeom>
          <a:solidFill>
            <a:srgbClr val="1F6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737360"/>
            <a:ext cx="475488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183B35"/>
                </a:solidFill>
              </a:defRPr>
            </a:pPr>
            <a:r>
              <a:t>Continuous Deployment (CI/CD)</a:t>
            </a:r>
          </a:p>
          <a:p>
            <a:pPr>
              <a:lnSpc>
                <a:spcPct val="125000"/>
              </a:lnSpc>
              <a:defRPr sz="1250">
                <a:solidFill>
                  <a:srgbClr val="1C2321"/>
                </a:solidFill>
              </a:defRPr>
            </a:pPr>
            <a:r>
              <a:t>GitHub-integrated automated pipeline. Every git push to main automatically triggers a zero-downtime build on Render cloud.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600200"/>
            <a:ext cx="5120640" cy="2240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E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63640" y="1783080"/>
            <a:ext cx="73152" cy="1874519"/>
          </a:xfrm>
          <a:prstGeom prst="rect">
            <a:avLst/>
          </a:prstGeom>
          <a:solidFill>
            <a:srgbClr val="1F6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737360"/>
            <a:ext cx="475488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183B35"/>
                </a:solidFill>
              </a:defRPr>
            </a:pPr>
            <a:r>
              <a:t>Cloud Database Infrastructure</a:t>
            </a:r>
          </a:p>
          <a:p>
            <a:pPr>
              <a:lnSpc>
                <a:spcPct val="125000"/>
              </a:lnSpc>
              <a:defRPr sz="1250">
                <a:solidFill>
                  <a:srgbClr val="1C2321"/>
                </a:solidFill>
              </a:defRPr>
            </a:pPr>
            <a:r>
              <a:t>MongoDB Atlas 3-node replica set with automated failover, TLS encryption in-transit, and AES-256 encryption at-rest.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160520"/>
            <a:ext cx="5120640" cy="2240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E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4343400"/>
            <a:ext cx="73152" cy="1874519"/>
          </a:xfrm>
          <a:prstGeom prst="rect">
            <a:avLst/>
          </a:prstGeom>
          <a:solidFill>
            <a:srgbClr val="1F6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4297680"/>
            <a:ext cx="475488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183B35"/>
                </a:solidFill>
              </a:defRPr>
            </a:pPr>
            <a:r>
              <a:t>Global Anywhere Access</a:t>
            </a:r>
          </a:p>
          <a:p>
            <a:pPr>
              <a:lnSpc>
                <a:spcPct val="125000"/>
              </a:lnSpc>
              <a:defRPr sz="1250">
                <a:solidFill>
                  <a:srgbClr val="1C2321"/>
                </a:solidFill>
              </a:defRPr>
            </a:pPr>
            <a:r>
              <a:t>Works on any Wi-Fi, hotspot, or mobile cellular data (4G/5G). Does not require the developer's laptop to stay online.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4160520"/>
            <a:ext cx="5120640" cy="2240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E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63640" y="4343400"/>
            <a:ext cx="73152" cy="1874519"/>
          </a:xfrm>
          <a:prstGeom prst="rect">
            <a:avLst/>
          </a:prstGeom>
          <a:solidFill>
            <a:srgbClr val="1F6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4297680"/>
            <a:ext cx="475488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183B35"/>
                </a:solidFill>
              </a:defRPr>
            </a:pPr>
            <a:r>
              <a:t>Brevo Cloud Mail Gateway</a:t>
            </a:r>
          </a:p>
          <a:p>
            <a:pPr>
              <a:lnSpc>
                <a:spcPct val="125000"/>
              </a:lnSpc>
              <a:defRPr sz="1250">
                <a:solidFill>
                  <a:srgbClr val="1C2321"/>
                </a:solidFill>
              </a:defRPr>
            </a:pPr>
            <a:r>
              <a:t>Configured cloud relay with SPF/DKIM verification ensuring high inbox delivery rate for OTP emails.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6446520"/>
            <a:ext cx="10652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A6964"/>
                </a:solidFill>
              </a:defRPr>
            </a:pPr>
            <a:r>
              <a:t>Hisab Project Presentation • Sanjana Dadaso Sapkal • Deployed on Render &amp; MongoDB Atlas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83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20040"/>
            <a:ext cx="777240" cy="594360"/>
          </a:xfrm>
          <a:prstGeom prst="roundRect">
            <a:avLst/>
          </a:prstGeom>
          <a:solidFill>
            <a:srgbClr val="1F6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91640" y="182880"/>
            <a:ext cx="9601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Conclusion &amp; Future Scope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91640" y="685800"/>
            <a:ext cx="9601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A7D3C6"/>
                </a:solidFill>
              </a:defRPr>
            </a:pPr>
            <a:r>
              <a:t>Summary of deliverables and strategic technical roadmap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00200"/>
            <a:ext cx="5120640" cy="2240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E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783080"/>
            <a:ext cx="73152" cy="1874519"/>
          </a:xfrm>
          <a:prstGeom prst="rect">
            <a:avLst/>
          </a:prstGeom>
          <a:solidFill>
            <a:srgbClr val="1F6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737360"/>
            <a:ext cx="475488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183B35"/>
                </a:solidFill>
              </a:defRPr>
            </a:pPr>
            <a:r>
              <a:t>Key Deliverables Achieved</a:t>
            </a:r>
          </a:p>
          <a:p>
            <a:pPr>
              <a:lnSpc>
                <a:spcPct val="125000"/>
              </a:lnSpc>
              <a:defRPr sz="1250">
                <a:solidFill>
                  <a:srgbClr val="1C2321"/>
                </a:solidFill>
              </a:defRPr>
            </a:pPr>
            <a:r>
              <a:t>A robust, fully functional, cloud-synced financial ledger app with production cloud deployment, secure email delivery, and clean modern UX.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600200"/>
            <a:ext cx="5120640" cy="2240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E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63640" y="1783080"/>
            <a:ext cx="73152" cy="1874519"/>
          </a:xfrm>
          <a:prstGeom prst="rect">
            <a:avLst/>
          </a:prstGeom>
          <a:solidFill>
            <a:srgbClr val="1F6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737360"/>
            <a:ext cx="475488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183B35"/>
                </a:solidFill>
              </a:defRPr>
            </a:pPr>
            <a:r>
              <a:t>Instant UPI Deep Linking</a:t>
            </a:r>
          </a:p>
          <a:p>
            <a:pPr>
              <a:lnSpc>
                <a:spcPct val="125000"/>
              </a:lnSpc>
              <a:defRPr sz="1250">
                <a:solidFill>
                  <a:srgbClr val="1C2321"/>
                </a:solidFill>
              </a:defRPr>
            </a:pPr>
            <a:r>
              <a:t>Future integration with UPI payment apps (Google Pay, PhonePe, Paytm) to settle balances directly within the application.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160520"/>
            <a:ext cx="5120640" cy="2240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E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4343400"/>
            <a:ext cx="73152" cy="1874519"/>
          </a:xfrm>
          <a:prstGeom prst="rect">
            <a:avLst/>
          </a:prstGeom>
          <a:solidFill>
            <a:srgbClr val="1F6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4297680"/>
            <a:ext cx="475488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183B35"/>
                </a:solidFill>
              </a:defRPr>
            </a:pPr>
            <a:r>
              <a:t>PDF &amp; Excel Report Exports</a:t>
            </a:r>
          </a:p>
          <a:p>
            <a:pPr>
              <a:lnSpc>
                <a:spcPct val="125000"/>
              </a:lnSpc>
              <a:defRPr sz="1250">
                <a:solidFill>
                  <a:srgbClr val="1C2321"/>
                </a:solidFill>
              </a:defRPr>
            </a:pPr>
            <a:r>
              <a:t>Ability to export complete monthly or annual transaction summaries into stamped PDF and CSV statements.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4160520"/>
            <a:ext cx="5120640" cy="2240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E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63640" y="4343400"/>
            <a:ext cx="73152" cy="1874519"/>
          </a:xfrm>
          <a:prstGeom prst="rect">
            <a:avLst/>
          </a:prstGeom>
          <a:solidFill>
            <a:srgbClr val="1F6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4297680"/>
            <a:ext cx="475488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183B35"/>
                </a:solidFill>
              </a:defRPr>
            </a:pPr>
            <a:r>
              <a:t>Group Expense Splitting</a:t>
            </a:r>
          </a:p>
          <a:p>
            <a:pPr>
              <a:lnSpc>
                <a:spcPct val="125000"/>
              </a:lnSpc>
              <a:defRPr sz="1250">
                <a:solidFill>
                  <a:srgbClr val="1C2321"/>
                </a:solidFill>
              </a:defRPr>
            </a:pPr>
            <a:r>
              <a:t>Extending beyond 1-on-1 ledgers to group trip and roommate expense splitting with automatic debt simplification.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6446520"/>
            <a:ext cx="10652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A6964"/>
                </a:solidFill>
              </a:defRPr>
            </a:pPr>
            <a:r>
              <a:t>Hisab Project Presentation • Sanjana Dadaso Sapkal • Deployed on Render &amp; MongoDB Atlas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